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036" autoAdjust="0"/>
  </p:normalViewPr>
  <p:slideViewPr>
    <p:cSldViewPr snapToGrid="0" snapToObjects="1">
      <p:cViewPr varScale="1">
        <p:scale>
          <a:sx n="139" d="100"/>
          <a:sy n="139" d="100"/>
        </p:scale>
        <p:origin x="80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Taxa de Conversão</c:v>
                </c:pt>
              </c:strCache>
            </c:strRef>
          </c:tx>
          <c:spPr>
            <a:solidFill>
              <a:srgbClr val="FECAC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C9A-4227-935E-E3B964671AC5}"/>
              </c:ext>
            </c:extLst>
          </c:dPt>
          <c:dPt>
            <c:idx val="1"/>
            <c:invertIfNegative val="0"/>
            <c:bubble3D val="0"/>
            <c:spPr>
              <a:solidFill>
                <a:srgbClr val="FCA5A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9A-4227-935E-E3B964671AC5}"/>
              </c:ext>
            </c:extLst>
          </c:dPt>
          <c:dPt>
            <c:idx val="2"/>
            <c:invertIfNegative val="0"/>
            <c:bubble3D val="0"/>
            <c:spPr>
              <a:solidFill>
                <a:srgbClr val="EA1D2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9A-4227-935E-E3B964671AC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BOGO</c:v>
                </c:pt>
                <c:pt idx="1">
                  <c:v>Informational</c:v>
                </c:pt>
                <c:pt idx="2">
                  <c:v>Discount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43.8</c:v>
                </c:pt>
                <c:pt idx="1">
                  <c:v>44.2</c:v>
                </c:pt>
                <c:pt idx="2">
                  <c:v>47.6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C9A-4227-935E-E3B964671AC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2"/>
          <c:min val="4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Recomendações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A1D2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6A2-4F1B-ABA9-47F79477107C}"/>
              </c:ext>
            </c:extLst>
          </c:dPt>
          <c:dPt>
            <c:idx val="1"/>
            <c:bubble3D val="0"/>
            <c:spPr>
              <a:solidFill>
                <a:srgbClr val="FCA5A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6A2-4F1B-ABA9-47F79477107C}"/>
              </c:ext>
            </c:extLst>
          </c:dPt>
          <c:dPt>
            <c:idx val="2"/>
            <c:bubble3D val="0"/>
            <c:spPr>
              <a:solidFill>
                <a:srgbClr val="E5E7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6A2-4F1B-ABA9-47F79477107C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6A2-4F1B-ABA9-47F79477107C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6A2-4F1B-ABA9-47F79477107C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pt-B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6A2-4F1B-ABA9-47F79477107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pt-BR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Discount</c:v>
                </c:pt>
                <c:pt idx="1">
                  <c:v>Informational</c:v>
                </c:pt>
                <c:pt idx="2">
                  <c:v>BOGO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78.599999999999994</c:v>
                </c:pt>
                <c:pt idx="1">
                  <c:v>21.4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6A2-4F1B-ABA9-47F7947710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Taxa de Conversão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493-4984-BCEF-41017FAFE45F}"/>
              </c:ext>
            </c:extLst>
          </c:dPt>
          <c:dPt>
            <c:idx val="1"/>
            <c:invertIfNegative val="0"/>
            <c:bubble3D val="0"/>
            <c:spPr>
              <a:solidFill>
                <a:srgbClr val="FCA5A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493-4984-BCEF-41017FAFE45F}"/>
              </c:ext>
            </c:extLst>
          </c:dPt>
          <c:dPt>
            <c:idx val="2"/>
            <c:invertIfNegative val="0"/>
            <c:bubble3D val="0"/>
            <c:spPr>
              <a:solidFill>
                <a:srgbClr val="EA1D2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493-4984-BCEF-41017FAFE45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Outra oferta</c:v>
                </c:pt>
                <c:pt idx="1">
                  <c:v>Baseline
(discount)</c:v>
                </c:pt>
                <c:pt idx="2">
                  <c:v>Oferta
recomendada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40.700000000000003</c:v>
                </c:pt>
                <c:pt idx="1">
                  <c:v>46.8</c:v>
                </c:pt>
                <c:pt idx="2">
                  <c:v>51.9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493-4984-BCEF-41017FAFE4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6"/>
          <c:min val="35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7689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abertura. Apresentar o contexto: iFood recebeu demanda de otimizar distribuição de cupons. Solução: modelo de personalização baseado em dados históricos de 17k clientes e 300k eventos.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Destaque: cupons enviados a 'Sure Things' (quem compraria de qualquer jeito) são custo puro. O modelo identifica quem realmente precisa do cupom para converter.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importante para a arguição: validamos estatisticamente que (1) os grupos são comparáveis e (2) as diferenças são reais. Isso sustenta o uso do S-Learner como metodologia válida.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ROI direto é 0.63x (negativo no curto prazo) porque o modelo considera só a transação imediata. O cupom se paga em 2-3 recompras se a retenção aumentar ≥3 p.p. — modelagem de LTV é o próximo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reforçando que o modelo já está treinado, avaliado e documentado. O próximo passo concreto e de baixo risco é um A/B controlado em produção para validar o ganho de +5.1 p.p.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651760"/>
          </a:xfrm>
          <a:prstGeom prst="rect">
            <a:avLst/>
          </a:prstGeom>
          <a:solidFill>
            <a:srgbClr val="EA1D2C"/>
          </a:solidFill>
          <a:ln w="127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iFood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56591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Personalização de Ofertas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baseada em dados para otimização de distribuição de cupons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8229600" cy="0"/>
          </a:xfrm>
          <a:prstGeom prst="line">
            <a:avLst/>
          </a:prstGeom>
          <a:noFill/>
          <a:ln w="254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356616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57200" y="36118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A1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únicos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356616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246120" y="36118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A1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300k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46120" y="4206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356616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035040" y="36118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A1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035040" y="4206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oferta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Clara  ·  Case Técnico Data Science</a:t>
            </a:r>
            <a:endParaRPr lang="en-US" sz="1000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941D3B60-72F8-73BF-5A43-4E13893C1A48}"/>
              </a:ext>
            </a:extLst>
          </p:cNvPr>
          <p:cNvSpPr txBox="1"/>
          <p:nvPr/>
        </p:nvSpPr>
        <p:spPr>
          <a:xfrm>
            <a:off x="334537" y="770292"/>
            <a:ext cx="4341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Case </a:t>
            </a:r>
            <a:r>
              <a:rPr lang="pt-BR" dirty="0" err="1">
                <a:solidFill>
                  <a:schemeClr val="bg1"/>
                </a:solidFill>
              </a:rPr>
              <a:t>Tecnico</a:t>
            </a:r>
            <a:r>
              <a:rPr lang="pt-BR" dirty="0">
                <a:solidFill>
                  <a:schemeClr val="bg1"/>
                </a:solidFill>
              </a:rPr>
              <a:t>: Ana Clara Aragão Fernandes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EA1D2C"/>
          </a:solidFill>
          <a:ln w="127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e os Dados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Cupons enviados sem critério financiam compras que já aconteceriam
</a:t>
            </a:r>
            <a:r>
              <a:rPr lang="en-US" sz="1300" b="1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tipos de oferta disponíveis (BOGO, Discount, Informational) com perfis de custo diferentes
</a:t>
            </a:r>
            <a:r>
              <a:rPr lang="en-US" sz="1300" b="1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com perfis muito distintos respondem de formas diferentes a cada oferta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0" cy="34747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489204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DA EDA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92040" y="1463040"/>
            <a:ext cx="3840480" cy="658368"/>
          </a:xfrm>
          <a:prstGeom prst="roundRect">
            <a:avLst>
              <a:gd name="adj" fmla="val 9722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029200" y="153619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com cadastro completo convertem 3× mais que os com perfil incompleto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92040" y="2240280"/>
            <a:ext cx="3840480" cy="658368"/>
          </a:xfrm>
          <a:prstGeom prst="roundRect">
            <a:avLst>
              <a:gd name="adj" fmla="val 9722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029200" y="23134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social é o 2º maior driver de conversão (Feature Importance — Gain)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92040" y="3017520"/>
            <a:ext cx="3840480" cy="658368"/>
          </a:xfrm>
          <a:prstGeom prst="roundRect">
            <a:avLst>
              <a:gd name="adj" fmla="val 9722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029200" y="309067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mais antigos na plataforma respondem melhor a qualquer oferta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92040" y="3794760"/>
            <a:ext cx="3840480" cy="658368"/>
          </a:xfrm>
          <a:prstGeom prst="roundRect">
            <a:avLst>
              <a:gd name="adj" fmla="val 9722"/>
            </a:avLst>
          </a:prstGeom>
          <a:solidFill>
            <a:srgbClr val="FFF0F0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029200" y="38679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BOGO é uniformemente inferior ao Discount em todos os segmentos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572000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EA1D2C"/>
          </a:solidFill>
          <a:ln w="127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57200" y="45902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 maior alavanca de ROI é para quem enviar — não qual oferta enviar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EA1D2C"/>
          </a:solidFill>
          <a:ln w="127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Experimental — Testes A/B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BALANCEAMENTO COVARIÁVEL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Kruskal-Wallis — H₀: distribuições iguais entre grupos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3931920" cy="1389888"/>
        </p:xfrm>
        <a:graphic>
          <a:graphicData uri="http://schemas.openxmlformats.org/drawingml/2006/table">
            <a:tbl>
              <a:tblPr/>
              <a:tblGrid>
                <a:gridCol w="982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29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29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29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Balanceado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 cartão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Balanceado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 cadastro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Balanceado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1737360"/>
            <a:ext cx="3931920" cy="347472"/>
          </a:xfrm>
          <a:prstGeom prst="rect">
            <a:avLst/>
          </a:prstGeom>
          <a:solidFill>
            <a:srgbClr val="EA1D2C"/>
          </a:solidFill>
          <a:ln w="127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502920" y="175564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    	H     	    p-value 	         Resultado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3337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estatisticamente idênticos em perfil — aleatorização bem executada.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051560"/>
            <a:ext cx="0" cy="34747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489204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SIGNIFICÂNCIA DA DIFERENÇA DE CONVERSÃO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892040" y="1371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Qui-quadrado de independência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92040" y="173736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FFF0F0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5029200" y="17830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= 96.48  ·  gl = 2  ·  p &lt; 0.0001
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Rejeitamos H₀ — diferenças de conversão são reais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892040" y="2651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conversão por tipo — IC 95% (Wilson):</a:t>
            </a:r>
            <a:endParaRPr lang="en-US" sz="11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4892040" y="2971800"/>
          <a:ext cx="384048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3"/>
          <p:cNvSpPr/>
          <p:nvPr/>
        </p:nvSpPr>
        <p:spPr>
          <a:xfrm>
            <a:off x="457200" y="4572000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EA1D2C"/>
          </a:solidFill>
          <a:ln w="127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4"/>
          <p:cNvSpPr/>
          <p:nvPr/>
        </p:nvSpPr>
        <p:spPr>
          <a:xfrm>
            <a:off x="457200" y="45902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Aleatorização confirmada + diferenças reais = S-Learner é metodologicamente válido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EA1D2C"/>
          </a:solidFill>
          <a:ln w="127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e os Resultados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ABORDAGEM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234440" cy="1005840"/>
          </a:xfrm>
          <a:prstGeom prst="roundRect">
            <a:avLst>
              <a:gd name="adj" fmla="val 7273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A1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1938528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discriminação excelente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0" y="1417320"/>
            <a:ext cx="1234440" cy="1005840"/>
          </a:xfrm>
          <a:prstGeom prst="roundRect">
            <a:avLst>
              <a:gd name="adj" fmla="val 7273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828800" y="14630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A1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1938528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Precision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+70% acima do baseline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0" y="1417320"/>
            <a:ext cx="1234440" cy="1005840"/>
          </a:xfrm>
          <a:prstGeom prst="roundRect">
            <a:avLst>
              <a:gd name="adj" fmla="val 7273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200400" y="146304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A1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00400" y="1938528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Calibração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prob. refletem realidade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2514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S-Learner LightGBM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(Künzel et al., 2019)
Um único modelo estima P(conversão | perfil do cliente, tipo de oferta). Para cada cliente, simulamos os 3 tipos de oferta e recomendamos o de maior probabilidade.</a:t>
            </a:r>
            <a:endParaRPr lang="en-US" sz="1100" dirty="0"/>
          </a:p>
        </p:txBody>
      </p:sp>
      <p:graphicFrame>
        <p:nvGraphicFramePr>
          <p:cNvPr id="15" name="Chart 0"/>
          <p:cNvGraphicFramePr/>
          <p:nvPr>
            <p:extLst>
              <p:ext uri="{D42A27DB-BD31-4B8C-83A1-F6EECF244321}">
                <p14:modId xmlns:p14="http://schemas.microsoft.com/office/powerpoint/2010/main" val="4229596013"/>
              </p:ext>
            </p:extLst>
          </p:nvPr>
        </p:nvGraphicFramePr>
        <p:xfrm>
          <a:off x="480060" y="3195828"/>
          <a:ext cx="3931920" cy="118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4663440" y="1051560"/>
            <a:ext cx="0" cy="34747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489204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OBSERVADO</a:t>
            </a:r>
            <a:endParaRPr lang="en-US" sz="1100" dirty="0"/>
          </a:p>
        </p:txBody>
      </p:sp>
      <p:graphicFrame>
        <p:nvGraphicFramePr>
          <p:cNvPr id="18" name="Chart 1"/>
          <p:cNvGraphicFramePr/>
          <p:nvPr/>
        </p:nvGraphicFramePr>
        <p:xfrm>
          <a:off x="4892040" y="1417320"/>
          <a:ext cx="384048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9" name="Shape 15"/>
          <p:cNvSpPr/>
          <p:nvPr/>
        </p:nvSpPr>
        <p:spPr>
          <a:xfrm>
            <a:off x="4892040" y="3794760"/>
            <a:ext cx="3840480" cy="777240"/>
          </a:xfrm>
          <a:prstGeom prst="roundRect">
            <a:avLst>
              <a:gd name="adj" fmla="val 9412"/>
            </a:avLst>
          </a:prstGeom>
          <a:solidFill>
            <a:srgbClr val="FFF0F0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6"/>
          <p:cNvSpPr/>
          <p:nvPr/>
        </p:nvSpPr>
        <p:spPr>
          <a:xfrm>
            <a:off x="5029200" y="38404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Estimativa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600" b="1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+5.1 p.p.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ganho de conversão  ·  </a:t>
            </a:r>
            <a:r>
              <a:rPr lang="en-US" sz="1400" b="1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R$20.6k/rodada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evitando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Sure Things (28.7% da base)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457200" y="4572000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EA1D2C"/>
          </a:solidFill>
          <a:ln w="127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8"/>
          <p:cNvSpPr/>
          <p:nvPr/>
        </p:nvSpPr>
        <p:spPr>
          <a:xfrm>
            <a:off x="457200" y="45902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Personalização entrega +5.1 p.p. de conversão e economiza R$20.6k por rodada de campanha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EA1D2C"/>
          </a:solidFill>
          <a:ln w="127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Recomendações e Próximos Passos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 IMEDIATAS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48640" y="14904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A1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1490472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Descontinuar BOGO
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recomendado pelo modelo — parâmetros atuais geram performance inferior ao Discount em todos os segmentos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 dirty="0"/>
          </a:p>
        </p:txBody>
      </p:sp>
      <p:sp>
        <p:nvSpPr>
          <p:cNvPr id="9" name="Text 7"/>
          <p:cNvSpPr/>
          <p:nvPr/>
        </p:nvSpPr>
        <p:spPr>
          <a:xfrm>
            <a:off x="548640" y="24963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A1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2496312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canal social
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maior driver de conversão (Feature Importance). Redistribuir budget de canal para social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48640" y="3502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A1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3502152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Sure Things
</a:t>
            </a: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28.7% da base converte sem cupom — economia de R$20.6k por rodada sem perda de conversão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051560"/>
            <a:ext cx="0" cy="34747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89204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92040" y="1417320"/>
            <a:ext cx="384048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983480" y="1481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1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 prazo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Experimento A/B controlado em produção para validar o ganho de +5.1 p.p.
• Calibrar threshold de Sure Things via teste controlado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92040" y="2423160"/>
            <a:ext cx="384048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983480" y="2487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 prazo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83480" y="2743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Modelagem de LTV: o cupom se paga em 2-3 recompras se retenção aumentar ≥3 p.p.
• Escalar pipeline para base real de produção (milhões de usuários)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92040" y="3429000"/>
            <a:ext cx="384048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983480" y="3493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2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Longo prazo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3749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Otimização de hiperparâmetros (Optuna) — ganho estimado de +2-3 p.p. em AUC
• Redesenho de parâmetros do BOGO para testar nova configuração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572000"/>
            <a:ext cx="8229600" cy="411480"/>
          </a:xfrm>
          <a:prstGeom prst="roundRect">
            <a:avLst>
              <a:gd name="adj" fmla="val 13333"/>
            </a:avLst>
          </a:prstGeom>
          <a:solidFill>
            <a:srgbClr val="EA1D2C"/>
          </a:solidFill>
          <a:ln w="127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57200" y="45902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Estratégia validada em dados experimentais — pronta para teste em produção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761</Words>
  <Application>Microsoft Office PowerPoint</Application>
  <PresentationFormat>Apresentação na tela (16:9)</PresentationFormat>
  <Paragraphs>90</Paragraphs>
  <Slides>5</Slides>
  <Notes>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Técnico iFood — Personalização de Ofertas</dc:title>
  <dc:subject>PptxGenJS Presentation</dc:subject>
  <dc:creator>Ana Clara</dc:creator>
  <cp:lastModifiedBy>Ana Clara Fernandes</cp:lastModifiedBy>
  <cp:revision>3</cp:revision>
  <dcterms:created xsi:type="dcterms:W3CDTF">2026-06-22T20:50:33Z</dcterms:created>
  <dcterms:modified xsi:type="dcterms:W3CDTF">2026-06-23T18:53:56Z</dcterms:modified>
</cp:coreProperties>
</file>